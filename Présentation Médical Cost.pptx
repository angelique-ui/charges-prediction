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5178bf3d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a5178bf3d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a5178bf3d4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a5178bf3d4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df1698d0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1df1698d0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df1698d01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1df1698d0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1df1698d01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1df1698d01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c7feb7f43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1c7feb7f43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c7feb7f43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1c7feb7f43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c7feb7f43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1c7feb7f43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1df1698d01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1df1698d01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df1698d01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1df1698d01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e3255290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1e3255290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df1698d0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1df1698d0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c7feb7f43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1c7feb7f43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a5178bf3d4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a5178bf3d4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66250" y="109925"/>
            <a:ext cx="72717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4000" u="sng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Medical Cost</a:t>
            </a:r>
            <a:endParaRPr sz="4000" u="sng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140000" y="4695600"/>
            <a:ext cx="520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 sz="1900">
                <a:solidFill>
                  <a:srgbClr val="202124"/>
                </a:solidFill>
              </a:rPr>
              <a:t>Medical Cost Personal Datasets </a:t>
            </a:r>
            <a:r>
              <a:rPr b="1" lang="fr" sz="1900">
                <a:solidFill>
                  <a:srgbClr val="202124"/>
                </a:solidFill>
              </a:rPr>
              <a:t>in the US</a:t>
            </a:r>
            <a:endParaRPr b="1" sz="1900">
              <a:solidFill>
                <a:srgbClr val="202124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0" y="0"/>
            <a:ext cx="9144000" cy="25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1641300" y="3275113"/>
            <a:ext cx="442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Prediction (ML)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1647000" y="1499088"/>
            <a:ext cx="49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statistical examination of data distributions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647000" y="2104363"/>
            <a:ext cx="502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study of potential correlations between variables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647000" y="2689738"/>
            <a:ext cx="585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b="1" lang="f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visual representation of relationships through the use of graphs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302725" y="347500"/>
            <a:ext cx="44238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Executive Summary</a:t>
            </a:r>
            <a:endParaRPr b="1"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0" y="0"/>
            <a:ext cx="9144000" cy="25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0" y="0"/>
            <a:ext cx="9144000" cy="25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25" y="1755800"/>
            <a:ext cx="8922150" cy="28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>
            <p:ph idx="4294967295" type="ctrTitle"/>
          </p:nvPr>
        </p:nvSpPr>
        <p:spPr>
          <a:xfrm>
            <a:off x="217664" y="363275"/>
            <a:ext cx="5102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Results - Data Cleaning </a:t>
            </a:r>
            <a:endParaRPr i="0" sz="2500" u="none" cap="none" strike="noStrike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74" name="Google Shape;74;p15"/>
          <p:cNvSpPr txBox="1"/>
          <p:nvPr>
            <p:ph idx="4294967295" type="ctrTitle"/>
          </p:nvPr>
        </p:nvSpPr>
        <p:spPr>
          <a:xfrm>
            <a:off x="310974" y="1277375"/>
            <a:ext cx="47451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i="1" lang="fr" sz="1100" u="sng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Checking for Outliers and Data Distribution</a:t>
            </a:r>
            <a:endParaRPr i="1" sz="1100" u="sng" cap="none" strike="noStrike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/>
          <p:nvPr/>
        </p:nvSpPr>
        <p:spPr>
          <a:xfrm>
            <a:off x="0" y="0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763" y="1644100"/>
            <a:ext cx="8662474" cy="27771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>
            <p:ph idx="4294967295" type="ctrTitle"/>
          </p:nvPr>
        </p:nvSpPr>
        <p:spPr>
          <a:xfrm>
            <a:off x="1192689" y="403300"/>
            <a:ext cx="5102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Results - Data Cleaning 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83" name="Google Shape;83;p16"/>
          <p:cNvSpPr txBox="1"/>
          <p:nvPr>
            <p:ph idx="4294967295" type="ctrTitle"/>
          </p:nvPr>
        </p:nvSpPr>
        <p:spPr>
          <a:xfrm>
            <a:off x="463374" y="972575"/>
            <a:ext cx="47451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i="1" lang="fr" sz="1100" u="sng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Checking for Outliers and Data Distribution</a:t>
            </a:r>
            <a:endParaRPr i="1" sz="1100" u="sng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75" y="1053197"/>
            <a:ext cx="270600" cy="181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>
            <a:off x="0" y="0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557562"/>
            <a:ext cx="9041450" cy="29437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>
            <p:ph idx="4294967295" type="ctrTitle"/>
          </p:nvPr>
        </p:nvSpPr>
        <p:spPr>
          <a:xfrm>
            <a:off x="1192689" y="403300"/>
            <a:ext cx="5102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Results - Data Cleaning 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3" name="Google Shape;93;p17"/>
          <p:cNvSpPr txBox="1"/>
          <p:nvPr>
            <p:ph idx="4294967295" type="ctrTitle"/>
          </p:nvPr>
        </p:nvSpPr>
        <p:spPr>
          <a:xfrm>
            <a:off x="455675" y="1000075"/>
            <a:ext cx="20835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i="1" lang="fr" sz="1100" u="sng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Normal Distribution</a:t>
            </a:r>
            <a:endParaRPr i="1" sz="1100" u="sng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275" y="1080697"/>
            <a:ext cx="270600" cy="181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/>
          <p:nvPr/>
        </p:nvSpPr>
        <p:spPr>
          <a:xfrm>
            <a:off x="0" y="0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142" y="1462925"/>
            <a:ext cx="2646253" cy="265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>
            <p:ph idx="4294967295" type="ctrTitle"/>
          </p:nvPr>
        </p:nvSpPr>
        <p:spPr>
          <a:xfrm>
            <a:off x="1192687" y="403300"/>
            <a:ext cx="4463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Results Analysis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955975" y="1029975"/>
            <a:ext cx="3189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100" u="sng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Significant Variables : BMI / Smoker / Age.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5187425" y="1017425"/>
            <a:ext cx="4239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100" u="sng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Less-Significant Variables : </a:t>
            </a:r>
            <a:r>
              <a:rPr i="1" lang="fr" sz="1100" u="sng" strike="sng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Sex </a:t>
            </a:r>
            <a:r>
              <a:rPr i="1" lang="fr" sz="1100" u="sng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/ </a:t>
            </a:r>
            <a:r>
              <a:rPr i="1" lang="fr" sz="1100" u="sng" strike="sng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Children</a:t>
            </a:r>
            <a:r>
              <a:rPr i="1" lang="fr" sz="1100" u="sng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/ </a:t>
            </a:r>
            <a:r>
              <a:rPr i="1" lang="fr" sz="1100" u="sng" strike="sng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Region</a:t>
            </a:r>
            <a:r>
              <a:rPr i="1" lang="fr" sz="1100" u="sng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.</a:t>
            </a:r>
            <a:endParaRPr i="1" sz="1100" u="sng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150" y="1116472"/>
            <a:ext cx="270600" cy="181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1150" y="1116472"/>
            <a:ext cx="270600" cy="18100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/>
          <p:nvPr/>
        </p:nvSpPr>
        <p:spPr>
          <a:xfrm>
            <a:off x="4820150" y="974700"/>
            <a:ext cx="4140900" cy="34089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585700" y="974700"/>
            <a:ext cx="3975000" cy="34089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3175" y="1331900"/>
            <a:ext cx="2845676" cy="284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/>
          <p:nvPr/>
        </p:nvSpPr>
        <p:spPr>
          <a:xfrm>
            <a:off x="0" y="-6700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9"/>
          <p:cNvSpPr txBox="1"/>
          <p:nvPr>
            <p:ph idx="4294967295" type="ctrTitle"/>
          </p:nvPr>
        </p:nvSpPr>
        <p:spPr>
          <a:xfrm>
            <a:off x="1192682" y="403300"/>
            <a:ext cx="34938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Results Analysis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900" y="1699437"/>
            <a:ext cx="3984999" cy="250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7600" y="1699425"/>
            <a:ext cx="4025366" cy="250662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/>
        </p:nvSpPr>
        <p:spPr>
          <a:xfrm>
            <a:off x="2916150" y="1151050"/>
            <a:ext cx="4226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100" u="sng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 of Risk Factors on Insurance Premiums</a:t>
            </a:r>
            <a:endParaRPr/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3400" y="1237547"/>
            <a:ext cx="270600" cy="181003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/>
          <p:nvPr/>
        </p:nvSpPr>
        <p:spPr>
          <a:xfrm>
            <a:off x="241150" y="1095000"/>
            <a:ext cx="8644800" cy="35133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idx="4294967295" type="ctrTitle"/>
          </p:nvPr>
        </p:nvSpPr>
        <p:spPr>
          <a:xfrm>
            <a:off x="1192671" y="403300"/>
            <a:ext cx="3368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Solution description 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/>
          <p:nvPr/>
        </p:nvSpPr>
        <p:spPr>
          <a:xfrm>
            <a:off x="0" y="0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 rotWithShape="1">
          <a:blip r:embed="rId4">
            <a:alphaModFix/>
          </a:blip>
          <a:srcRect b="0" l="0" r="32432" t="0"/>
          <a:stretch/>
        </p:blipFill>
        <p:spPr>
          <a:xfrm>
            <a:off x="728574" y="1864950"/>
            <a:ext cx="7352750" cy="32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343650" y="8602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100" u="sng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Accuracy of Charges Predictions</a:t>
            </a:r>
            <a:endParaRPr/>
          </a:p>
        </p:txBody>
      </p:sp>
      <p:pic>
        <p:nvPicPr>
          <p:cNvPr id="131" name="Google Shape;1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575" y="946697"/>
            <a:ext cx="270600" cy="18100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/>
        </p:nvSpPr>
        <p:spPr>
          <a:xfrm>
            <a:off x="2712850" y="1019850"/>
            <a:ext cx="6534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1100"/>
              <a:buFont typeface="Inter SemiBold"/>
              <a:buChar char="●"/>
            </a:pPr>
            <a:r>
              <a:rPr lang="fr" sz="11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With the full Data set we have an MAE of 4000 $.</a:t>
            </a:r>
            <a:endParaRPr sz="11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1100"/>
              <a:buFont typeface="Inter SemiBold"/>
              <a:buChar char="●"/>
            </a:pPr>
            <a:r>
              <a:rPr lang="fr" sz="11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With a selected Data set we have an MAE of 750 $.</a:t>
            </a:r>
            <a:endParaRPr sz="11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idx="4294967295" type="ctrTitle"/>
          </p:nvPr>
        </p:nvSpPr>
        <p:spPr>
          <a:xfrm>
            <a:off x="1192671" y="403300"/>
            <a:ext cx="3368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Solution description 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/>
          <p:nvPr/>
        </p:nvSpPr>
        <p:spPr>
          <a:xfrm>
            <a:off x="0" y="0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21"/>
          <p:cNvPicPr preferRelativeResize="0"/>
          <p:nvPr/>
        </p:nvPicPr>
        <p:blipFill rotWithShape="1">
          <a:blip r:embed="rId4">
            <a:alphaModFix/>
          </a:blip>
          <a:srcRect b="0" l="0" r="32505" t="0"/>
          <a:stretch/>
        </p:blipFill>
        <p:spPr>
          <a:xfrm>
            <a:off x="741525" y="1495075"/>
            <a:ext cx="7660952" cy="334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/>
        </p:nvSpPr>
        <p:spPr>
          <a:xfrm>
            <a:off x="343650" y="8602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100" u="sng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Accuracy of Charges Predictions</a:t>
            </a:r>
            <a:endParaRPr/>
          </a:p>
        </p:txBody>
      </p:sp>
      <p:pic>
        <p:nvPicPr>
          <p:cNvPr id="142" name="Google Shape;1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575" y="946697"/>
            <a:ext cx="270600" cy="181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idx="4294967295" type="ctrTitle"/>
          </p:nvPr>
        </p:nvSpPr>
        <p:spPr>
          <a:xfrm>
            <a:off x="1192671" y="403300"/>
            <a:ext cx="3368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Solution description 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48" name="Google Shape;1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/>
          <p:nvPr/>
        </p:nvSpPr>
        <p:spPr>
          <a:xfrm>
            <a:off x="0" y="0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22"/>
          <p:cNvPicPr preferRelativeResize="0"/>
          <p:nvPr/>
        </p:nvPicPr>
        <p:blipFill rotWithShape="1">
          <a:blip r:embed="rId4">
            <a:alphaModFix/>
          </a:blip>
          <a:srcRect b="0" l="67127" r="0" t="0"/>
          <a:stretch/>
        </p:blipFill>
        <p:spPr>
          <a:xfrm>
            <a:off x="4683650" y="1319465"/>
            <a:ext cx="3999124" cy="359026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343650" y="8602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100" u="sng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Accuracy of Charges Predictions</a:t>
            </a:r>
            <a:endParaRPr/>
          </a:p>
        </p:txBody>
      </p:sp>
      <p:pic>
        <p:nvPicPr>
          <p:cNvPr id="152" name="Google Shape;1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575" y="946697"/>
            <a:ext cx="270600" cy="181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/>
          <p:cNvPicPr preferRelativeResize="0"/>
          <p:nvPr/>
        </p:nvPicPr>
        <p:blipFill rotWithShape="1">
          <a:blip r:embed="rId5">
            <a:alphaModFix/>
          </a:blip>
          <a:srcRect b="0" l="67569" r="0" t="0"/>
          <a:stretch/>
        </p:blipFill>
        <p:spPr>
          <a:xfrm>
            <a:off x="170600" y="1290400"/>
            <a:ext cx="3999122" cy="3648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/>
          <p:nvPr/>
        </p:nvSpPr>
        <p:spPr>
          <a:xfrm>
            <a:off x="241150" y="1214200"/>
            <a:ext cx="8644800" cy="38325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2276325" y="1674600"/>
            <a:ext cx="169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u="sng">
                <a:solidFill>
                  <a:srgbClr val="1C458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MAE of 4000 $</a:t>
            </a:r>
            <a:endParaRPr u="sng">
              <a:solidFill>
                <a:srgbClr val="1C4587"/>
              </a:solidFill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6554175" y="1674600"/>
            <a:ext cx="1760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u="sng">
                <a:solidFill>
                  <a:srgbClr val="1C458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MAE of 750 $</a:t>
            </a:r>
            <a:endParaRPr u="sng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idx="4294967295" type="ctrTitle"/>
          </p:nvPr>
        </p:nvSpPr>
        <p:spPr>
          <a:xfrm>
            <a:off x="1192675" y="403300"/>
            <a:ext cx="34113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Solution description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62" name="Google Shape;16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/>
          <p:nvPr/>
        </p:nvSpPr>
        <p:spPr>
          <a:xfrm>
            <a:off x="0" y="0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493950" y="10788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100" u="sng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Regression Model Coefficients</a:t>
            </a:r>
            <a:endParaRPr/>
          </a:p>
        </p:txBody>
      </p:sp>
      <p:pic>
        <p:nvPicPr>
          <p:cNvPr id="165" name="Google Shape;1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550" y="1165347"/>
            <a:ext cx="270600" cy="181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924" y="1694600"/>
            <a:ext cx="8576674" cy="241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/>
          <p:cNvSpPr txBox="1"/>
          <p:nvPr/>
        </p:nvSpPr>
        <p:spPr>
          <a:xfrm>
            <a:off x="4719850" y="1466975"/>
            <a:ext cx="3787200" cy="15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u="sng">
                <a:solidFill>
                  <a:schemeClr val="dk2"/>
                </a:solidFill>
              </a:rPr>
              <a:t>Categories feature importance:</a:t>
            </a:r>
            <a:endParaRPr sz="1800" u="sng">
              <a:solidFill>
                <a:schemeClr val="dk2"/>
              </a:solidFill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Smoker are the most important as expected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174825" y="1078850"/>
            <a:ext cx="8728800" cy="34911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idx="4294967295" type="ctrTitle"/>
          </p:nvPr>
        </p:nvSpPr>
        <p:spPr>
          <a:xfrm>
            <a:off x="1192675" y="403300"/>
            <a:ext cx="34113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Solution description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74" name="Google Shape;17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/>
          <p:nvPr/>
        </p:nvSpPr>
        <p:spPr>
          <a:xfrm>
            <a:off x="0" y="0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4"/>
          <p:cNvSpPr txBox="1"/>
          <p:nvPr/>
        </p:nvSpPr>
        <p:spPr>
          <a:xfrm>
            <a:off x="493950" y="10788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100" u="sng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Regression Model Coefficients</a:t>
            </a:r>
            <a:endParaRPr/>
          </a:p>
        </p:txBody>
      </p:sp>
      <p:pic>
        <p:nvPicPr>
          <p:cNvPr id="177" name="Google Shape;17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550" y="1165347"/>
            <a:ext cx="270600" cy="181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175" y="1767446"/>
            <a:ext cx="8703652" cy="244742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4"/>
          <p:cNvSpPr txBox="1"/>
          <p:nvPr/>
        </p:nvSpPr>
        <p:spPr>
          <a:xfrm>
            <a:off x="4395675" y="1346350"/>
            <a:ext cx="3787200" cy="15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u="sng">
                <a:solidFill>
                  <a:schemeClr val="dk2"/>
                </a:solidFill>
              </a:rPr>
              <a:t>Numerical Categories feature importance:</a:t>
            </a:r>
            <a:endParaRPr sz="1800" u="sng">
              <a:solidFill>
                <a:schemeClr val="dk2"/>
              </a:solidFill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age is the most important as expected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174825" y="1078850"/>
            <a:ext cx="8728800" cy="34911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What’s next? 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86" name="Google Shape;18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5"/>
          <p:cNvSpPr/>
          <p:nvPr/>
        </p:nvSpPr>
        <p:spPr>
          <a:xfrm>
            <a:off x="0" y="0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1399925" y="1088300"/>
            <a:ext cx="6403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Decision Tree Regression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Random Forest Regression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fr" sz="1800">
                <a:solidFill>
                  <a:srgbClr val="B7B7B7"/>
                </a:solidFill>
              </a:rPr>
              <a:t>Support VectorRegression</a:t>
            </a:r>
            <a:endParaRPr sz="1800"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fr" sz="1800">
                <a:solidFill>
                  <a:srgbClr val="B7B7B7"/>
                </a:solidFill>
              </a:rPr>
              <a:t>KNN (K-Nearest Neighbors) Regression</a:t>
            </a:r>
            <a:endParaRPr sz="1800"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fr" sz="1800">
                <a:solidFill>
                  <a:srgbClr val="B7B7B7"/>
                </a:solidFill>
              </a:rPr>
              <a:t>Ridge Regression</a:t>
            </a:r>
            <a:endParaRPr sz="1800"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1040275" y="999463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800" u="sng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Other models to test :</a:t>
            </a:r>
            <a:endParaRPr sz="1800"/>
          </a:p>
        </p:txBody>
      </p:sp>
      <p:pic>
        <p:nvPicPr>
          <p:cNvPr id="190" name="Google Shape;19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375" y="1127623"/>
            <a:ext cx="307100" cy="20541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5"/>
          <p:cNvSpPr txBox="1"/>
          <p:nvPr/>
        </p:nvSpPr>
        <p:spPr>
          <a:xfrm>
            <a:off x="1082475" y="3061663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800" u="sng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Other </a:t>
            </a:r>
            <a:r>
              <a:rPr i="1" lang="fr" sz="1800" u="sng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variables</a:t>
            </a:r>
            <a:r>
              <a:rPr i="1" lang="fr" sz="1800" u="sng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to add</a:t>
            </a:r>
            <a:r>
              <a:rPr i="1" lang="fr" sz="1800" u="sng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:</a:t>
            </a:r>
            <a:endParaRPr sz="1800"/>
          </a:p>
        </p:txBody>
      </p:sp>
      <p:pic>
        <p:nvPicPr>
          <p:cNvPr id="192" name="Google Shape;19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375" y="3212298"/>
            <a:ext cx="307100" cy="20541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5"/>
          <p:cNvSpPr txBox="1"/>
          <p:nvPr/>
        </p:nvSpPr>
        <p:spPr>
          <a:xfrm>
            <a:off x="1370100" y="3212300"/>
            <a:ext cx="6403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Reasons of hospitalisation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Type of </a:t>
            </a:r>
            <a:r>
              <a:rPr lang="fr" sz="1800">
                <a:solidFill>
                  <a:schemeClr val="dk1"/>
                </a:solidFill>
              </a:rPr>
              <a:t>disease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Accidents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idx="4294967295" type="ctrTitle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5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Any questions ?</a:t>
            </a:r>
            <a:endParaRPr i="0" sz="52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99" name="Google Shape;19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